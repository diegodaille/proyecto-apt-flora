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Luckiest Guy" charset="1" panose="02000506000000020004"/>
      <p:regular r:id="rId14"/>
    </p:embeddedFont>
    <p:embeddedFont>
      <p:font typeface="Open Sans" charset="1" panose="020B0606030504020204"/>
      <p:regular r:id="rId15"/>
    </p:embeddedFont>
    <p:embeddedFont>
      <p:font typeface="Open Sans Bold" charset="1" panose="020B0806030504020204"/>
      <p:regular r:id="rId16"/>
    </p:embeddedFont>
    <p:embeddedFont>
      <p:font typeface="Open Sauce" charset="1" panose="00000500000000000000"/>
      <p:regular r:id="rId17"/>
    </p:embeddedFont>
    <p:embeddedFont>
      <p:font typeface="Open Sauce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613654">
            <a:off x="-7241706" y="4798124"/>
            <a:ext cx="10380129" cy="12975161"/>
          </a:xfrm>
          <a:custGeom>
            <a:avLst/>
            <a:gdLst/>
            <a:ahLst/>
            <a:cxnLst/>
            <a:rect r="r" b="b" t="t" l="l"/>
            <a:pathLst>
              <a:path h="12975161" w="10380129">
                <a:moveTo>
                  <a:pt x="0" y="0"/>
                </a:moveTo>
                <a:lnTo>
                  <a:pt x="10380128" y="0"/>
                </a:lnTo>
                <a:lnTo>
                  <a:pt x="10380128" y="12975161"/>
                </a:lnTo>
                <a:lnTo>
                  <a:pt x="0" y="129751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27842">
            <a:off x="10177960" y="8791452"/>
            <a:ext cx="7920059" cy="6840951"/>
          </a:xfrm>
          <a:custGeom>
            <a:avLst/>
            <a:gdLst/>
            <a:ahLst/>
            <a:cxnLst/>
            <a:rect r="r" b="b" t="t" l="l"/>
            <a:pathLst>
              <a:path h="6840951" w="7920059">
                <a:moveTo>
                  <a:pt x="0" y="0"/>
                </a:moveTo>
                <a:lnTo>
                  <a:pt x="7920059" y="0"/>
                </a:lnTo>
                <a:lnTo>
                  <a:pt x="7920059" y="6840951"/>
                </a:lnTo>
                <a:lnTo>
                  <a:pt x="0" y="68409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099623">
            <a:off x="15039872" y="4504719"/>
            <a:ext cx="10776240" cy="13470300"/>
          </a:xfrm>
          <a:custGeom>
            <a:avLst/>
            <a:gdLst/>
            <a:ahLst/>
            <a:cxnLst/>
            <a:rect r="r" b="b" t="t" l="l"/>
            <a:pathLst>
              <a:path h="13470300" w="10776240">
                <a:moveTo>
                  <a:pt x="10776240" y="0"/>
                </a:moveTo>
                <a:lnTo>
                  <a:pt x="0" y="0"/>
                </a:lnTo>
                <a:lnTo>
                  <a:pt x="0" y="13470300"/>
                </a:lnTo>
                <a:lnTo>
                  <a:pt x="10776240" y="13470300"/>
                </a:lnTo>
                <a:lnTo>
                  <a:pt x="1077624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29815" y="8333681"/>
            <a:ext cx="3091634" cy="6630851"/>
          </a:xfrm>
          <a:custGeom>
            <a:avLst/>
            <a:gdLst/>
            <a:ahLst/>
            <a:cxnLst/>
            <a:rect r="r" b="b" t="t" l="l"/>
            <a:pathLst>
              <a:path h="6630851" w="3091634">
                <a:moveTo>
                  <a:pt x="0" y="0"/>
                </a:moveTo>
                <a:lnTo>
                  <a:pt x="3091634" y="0"/>
                </a:lnTo>
                <a:lnTo>
                  <a:pt x="3091634" y="6630851"/>
                </a:lnTo>
                <a:lnTo>
                  <a:pt x="0" y="66308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511706" y="8226043"/>
            <a:ext cx="3690155" cy="6348653"/>
          </a:xfrm>
          <a:custGeom>
            <a:avLst/>
            <a:gdLst/>
            <a:ahLst/>
            <a:cxnLst/>
            <a:rect r="r" b="b" t="t" l="l"/>
            <a:pathLst>
              <a:path h="6348653" w="3690155">
                <a:moveTo>
                  <a:pt x="0" y="0"/>
                </a:moveTo>
                <a:lnTo>
                  <a:pt x="3690155" y="0"/>
                </a:lnTo>
                <a:lnTo>
                  <a:pt x="3690155" y="6348654"/>
                </a:lnTo>
                <a:lnTo>
                  <a:pt x="0" y="63486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4785119"/>
            <a:ext cx="16573082" cy="783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06"/>
              </a:lnSpc>
            </a:pPr>
            <a:r>
              <a:rPr lang="en-US" sz="5625">
                <a:solidFill>
                  <a:srgbClr val="438038"/>
                </a:solidFill>
                <a:latin typeface="Luckiest Guy"/>
                <a:ea typeface="Luckiest Guy"/>
                <a:cs typeface="Luckiest Guy"/>
                <a:sym typeface="Luckiest Guy"/>
              </a:rPr>
              <a:t>FLORA LIVING ORGANISM RECOGNITION ASSISTANT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936698" y="2726549"/>
            <a:ext cx="13963320" cy="2352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65"/>
              </a:lnSpc>
            </a:pPr>
            <a:r>
              <a:rPr lang="en-US" sz="17014">
                <a:solidFill>
                  <a:srgbClr val="438038"/>
                </a:solidFill>
                <a:latin typeface="Luckiest Guy"/>
                <a:ea typeface="Luckiest Guy"/>
                <a:cs typeface="Luckiest Guy"/>
                <a:sym typeface="Luckiest Guy"/>
              </a:rPr>
              <a:t>F.L.O.R.A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220201" y="7970279"/>
            <a:ext cx="4001444" cy="5344166"/>
          </a:xfrm>
          <a:custGeom>
            <a:avLst/>
            <a:gdLst/>
            <a:ahLst/>
            <a:cxnLst/>
            <a:rect r="r" b="b" t="t" l="l"/>
            <a:pathLst>
              <a:path h="5344166" w="4001444">
                <a:moveTo>
                  <a:pt x="0" y="0"/>
                </a:moveTo>
                <a:lnTo>
                  <a:pt x="4001444" y="0"/>
                </a:lnTo>
                <a:lnTo>
                  <a:pt x="4001444" y="5344166"/>
                </a:lnTo>
                <a:lnTo>
                  <a:pt x="0" y="53441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-8604624">
            <a:off x="11871180" y="-9849158"/>
            <a:ext cx="10776240" cy="13470300"/>
          </a:xfrm>
          <a:custGeom>
            <a:avLst/>
            <a:gdLst/>
            <a:ahLst/>
            <a:cxnLst/>
            <a:rect r="r" b="b" t="t" l="l"/>
            <a:pathLst>
              <a:path h="13470300" w="10776240">
                <a:moveTo>
                  <a:pt x="10776240" y="0"/>
                </a:moveTo>
                <a:lnTo>
                  <a:pt x="0" y="0"/>
                </a:lnTo>
                <a:lnTo>
                  <a:pt x="0" y="13470300"/>
                </a:lnTo>
                <a:lnTo>
                  <a:pt x="10776240" y="13470300"/>
                </a:lnTo>
                <a:lnTo>
                  <a:pt x="1077624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7545968">
            <a:off x="-3309484" y="-8411208"/>
            <a:ext cx="10776240" cy="13470300"/>
          </a:xfrm>
          <a:custGeom>
            <a:avLst/>
            <a:gdLst/>
            <a:ahLst/>
            <a:cxnLst/>
            <a:rect r="r" b="b" t="t" l="l"/>
            <a:pathLst>
              <a:path h="13470300" w="10776240">
                <a:moveTo>
                  <a:pt x="0" y="0"/>
                </a:moveTo>
                <a:lnTo>
                  <a:pt x="10776240" y="0"/>
                </a:lnTo>
                <a:lnTo>
                  <a:pt x="10776240" y="13470300"/>
                </a:lnTo>
                <a:lnTo>
                  <a:pt x="0" y="13470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9971502">
            <a:off x="4171735" y="-10848450"/>
            <a:ext cx="10776240" cy="13470300"/>
          </a:xfrm>
          <a:custGeom>
            <a:avLst/>
            <a:gdLst/>
            <a:ahLst/>
            <a:cxnLst/>
            <a:rect r="r" b="b" t="t" l="l"/>
            <a:pathLst>
              <a:path h="13470300" w="10776240">
                <a:moveTo>
                  <a:pt x="0" y="0"/>
                </a:moveTo>
                <a:lnTo>
                  <a:pt x="10776240" y="0"/>
                </a:lnTo>
                <a:lnTo>
                  <a:pt x="10776240" y="13470300"/>
                </a:lnTo>
                <a:lnTo>
                  <a:pt x="0" y="13470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530804" y="5369620"/>
            <a:ext cx="10058102" cy="712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438038"/>
                </a:solidFill>
                <a:latin typeface="Open Sans"/>
                <a:ea typeface="Open Sans"/>
                <a:cs typeface="Open Sans"/>
                <a:sym typeface="Open Sans"/>
              </a:rPr>
              <a:t> Proyecto </a:t>
            </a:r>
            <a:r>
              <a:rPr lang="en-US" sz="4200">
                <a:solidFill>
                  <a:srgbClr val="438038"/>
                </a:solidFill>
                <a:latin typeface="Open Sans"/>
                <a:ea typeface="Open Sans"/>
                <a:cs typeface="Open Sans"/>
                <a:sym typeface="Open Sans"/>
              </a:rPr>
              <a:t>APT • Capstone • Sección 004D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52816" y="6005890"/>
            <a:ext cx="9614078" cy="2116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47"/>
              </a:lnSpc>
            </a:pPr>
            <a:r>
              <a:rPr lang="en-US" sz="4033" b="true">
                <a:solidFill>
                  <a:srgbClr val="43803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José Delg</a:t>
            </a:r>
            <a:r>
              <a:rPr lang="en-US" b="true" sz="4033">
                <a:solidFill>
                  <a:srgbClr val="43803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ado </a:t>
            </a:r>
          </a:p>
          <a:p>
            <a:pPr algn="ctr">
              <a:lnSpc>
                <a:spcPts val="5647"/>
              </a:lnSpc>
            </a:pPr>
            <a:r>
              <a:rPr lang="en-US" b="true" sz="4033">
                <a:solidFill>
                  <a:srgbClr val="43803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Diego Daile Álvarez </a:t>
            </a:r>
          </a:p>
          <a:p>
            <a:pPr algn="ctr">
              <a:lnSpc>
                <a:spcPts val="5647"/>
              </a:lnSpc>
            </a:pPr>
            <a:r>
              <a:rPr lang="en-US" b="true" sz="4033">
                <a:solidFill>
                  <a:srgbClr val="43803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Alberto Jesús Maulen Loyola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38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63982" y="1032382"/>
            <a:ext cx="4501722" cy="10116230"/>
          </a:xfrm>
          <a:custGeom>
            <a:avLst/>
            <a:gdLst/>
            <a:ahLst/>
            <a:cxnLst/>
            <a:rect r="r" b="b" t="t" l="l"/>
            <a:pathLst>
              <a:path h="10116230" w="4501722">
                <a:moveTo>
                  <a:pt x="0" y="0"/>
                </a:moveTo>
                <a:lnTo>
                  <a:pt x="4501722" y="0"/>
                </a:lnTo>
                <a:lnTo>
                  <a:pt x="4501722" y="10116230"/>
                </a:lnTo>
                <a:lnTo>
                  <a:pt x="0" y="101162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28812"/>
            <a:ext cx="9600358" cy="192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60"/>
              </a:lnSpc>
            </a:pPr>
            <a:r>
              <a:rPr lang="en-US" sz="13962">
                <a:solidFill>
                  <a:srgbClr val="FFFFFF"/>
                </a:solidFill>
                <a:latin typeface="Luckiest Guy"/>
                <a:ea typeface="Luckiest Guy"/>
                <a:cs typeface="Luckiest Guy"/>
                <a:sym typeface="Luckiest Guy"/>
              </a:rPr>
              <a:t>DEFINICION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797950"/>
            <a:ext cx="10961020" cy="10301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5"/>
              </a:lnSpc>
            </a:pPr>
            <a:r>
              <a:rPr lang="en-US" sz="343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Aplicación móvil híbrida que integra Inteligencia Artificial y Visión por Computador para diagnosticar la salud de plantas domésticas, automatizar el riego y fomentar hábitos de cuidado mediante gamificación.</a:t>
            </a:r>
          </a:p>
          <a:p>
            <a:pPr algn="l">
              <a:lnSpc>
                <a:spcPts val="3605"/>
              </a:lnSpc>
            </a:pPr>
          </a:p>
          <a:p>
            <a:pPr algn="l">
              <a:lnSpc>
                <a:spcPts val="3605"/>
              </a:lnSpc>
            </a:pPr>
          </a:p>
          <a:p>
            <a:pPr algn="l" marL="741381" indent="-370691" lvl="1">
              <a:lnSpc>
                <a:spcPts val="3605"/>
              </a:lnSpc>
              <a:buFont typeface="Arial"/>
              <a:buChar char="•"/>
            </a:pPr>
            <a:r>
              <a:rPr lang="en-US" sz="343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Reconocimiento Visual (IA): clasifica especie y analiza luz/espacio del entorno.</a:t>
            </a:r>
          </a:p>
          <a:p>
            <a:pPr algn="l" marL="741381" indent="-370691" lvl="1">
              <a:lnSpc>
                <a:spcPts val="3605"/>
              </a:lnSpc>
              <a:buFont typeface="Arial"/>
              <a:buChar char="•"/>
            </a:pPr>
            <a:r>
              <a:rPr lang="en-US" sz="343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Motor de Factibilidad y Riego: calcula supervivencia y agenda adaptativa.</a:t>
            </a:r>
          </a:p>
          <a:p>
            <a:pPr algn="l" marL="741381" indent="-370691" lvl="1">
              <a:lnSpc>
                <a:spcPts val="3605"/>
              </a:lnSpc>
              <a:buFont typeface="Arial"/>
              <a:buChar char="•"/>
            </a:pPr>
            <a:r>
              <a:rPr lang="en-US" sz="343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Ludificación: mascota virtual evolutiva y sistema de rachas.</a:t>
            </a:r>
          </a:p>
          <a:p>
            <a:pPr algn="l" marL="741381" indent="-370691" lvl="1">
              <a:lnSpc>
                <a:spcPts val="3605"/>
              </a:lnSpc>
              <a:buFont typeface="Arial"/>
              <a:buChar char="•"/>
            </a:pPr>
            <a:r>
              <a:rPr lang="en-US" sz="343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Backend en Python/Django: usuarios, datos y notificaciones.</a:t>
            </a:r>
          </a:p>
          <a:p>
            <a:pPr algn="l">
              <a:lnSpc>
                <a:spcPts val="3605"/>
              </a:lnSpc>
            </a:pPr>
          </a:p>
          <a:p>
            <a:pPr algn="l">
              <a:lnSpc>
                <a:spcPts val="3605"/>
              </a:lnSpc>
            </a:pPr>
          </a:p>
          <a:p>
            <a:pPr algn="l">
              <a:lnSpc>
                <a:spcPts val="3605"/>
              </a:lnSpc>
            </a:pPr>
          </a:p>
          <a:p>
            <a:pPr algn="l">
              <a:lnSpc>
                <a:spcPts val="3605"/>
              </a:lnSpc>
            </a:pPr>
          </a:p>
          <a:p>
            <a:pPr algn="l">
              <a:lnSpc>
                <a:spcPts val="3605"/>
              </a:lnSpc>
            </a:pPr>
          </a:p>
          <a:p>
            <a:pPr algn="l">
              <a:lnSpc>
                <a:spcPts val="3605"/>
              </a:lnSpc>
            </a:pPr>
          </a:p>
          <a:p>
            <a:pPr algn="l">
              <a:lnSpc>
                <a:spcPts val="3605"/>
              </a:lnSpc>
            </a:pPr>
          </a:p>
          <a:p>
            <a:pPr algn="l">
              <a:lnSpc>
                <a:spcPts val="3605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7731543" y="6172200"/>
            <a:ext cx="9527757" cy="8229600"/>
          </a:xfrm>
          <a:custGeom>
            <a:avLst/>
            <a:gdLst/>
            <a:ahLst/>
            <a:cxnLst/>
            <a:rect r="r" b="b" t="t" l="l"/>
            <a:pathLst>
              <a:path h="8229600" w="9527757">
                <a:moveTo>
                  <a:pt x="9527757" y="0"/>
                </a:moveTo>
                <a:lnTo>
                  <a:pt x="0" y="0"/>
                </a:lnTo>
                <a:lnTo>
                  <a:pt x="0" y="8229600"/>
                </a:lnTo>
                <a:lnTo>
                  <a:pt x="9527757" y="8229600"/>
                </a:lnTo>
                <a:lnTo>
                  <a:pt x="9527757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081231"/>
            <a:ext cx="16230600" cy="1523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23"/>
              </a:lnSpc>
            </a:pPr>
            <a:r>
              <a:rPr lang="en-US" sz="10974">
                <a:solidFill>
                  <a:srgbClr val="438038"/>
                </a:solidFill>
                <a:latin typeface="Luckiest Guy"/>
                <a:ea typeface="Luckiest Guy"/>
                <a:cs typeface="Luckiest Guy"/>
                <a:sym typeface="Luckiest Guy"/>
              </a:rPr>
              <a:t>PROBLEMATICA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552585"/>
            <a:ext cx="16230600" cy="1619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0"/>
              </a:lnSpc>
            </a:pPr>
            <a:r>
              <a:rPr lang="en-US" sz="4019">
                <a:solidFill>
                  <a:srgbClr val="438038"/>
                </a:solidFill>
                <a:latin typeface="Open Sauce"/>
                <a:ea typeface="Open Sauce"/>
                <a:cs typeface="Open Sauce"/>
                <a:sym typeface="Open Sauce"/>
              </a:rPr>
              <a:t>Alta mortalidad de plantas domésticas por desconocimiento botánico y falta de constancia en el riego, en hogares urbanos de espacios reducidos y luz heterogénea.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801710" y="6172200"/>
            <a:ext cx="9527757" cy="8229600"/>
          </a:xfrm>
          <a:custGeom>
            <a:avLst/>
            <a:gdLst/>
            <a:ahLst/>
            <a:cxnLst/>
            <a:rect r="r" b="b" t="t" l="l"/>
            <a:pathLst>
              <a:path h="8229600" w="9527757">
                <a:moveTo>
                  <a:pt x="0" y="0"/>
                </a:moveTo>
                <a:lnTo>
                  <a:pt x="9527757" y="0"/>
                </a:lnTo>
                <a:lnTo>
                  <a:pt x="952775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38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01191" y="1028700"/>
            <a:ext cx="4186809" cy="8229600"/>
          </a:xfrm>
          <a:custGeom>
            <a:avLst/>
            <a:gdLst/>
            <a:ahLst/>
            <a:cxnLst/>
            <a:rect r="r" b="b" t="t" l="l"/>
            <a:pathLst>
              <a:path h="8229600" w="4186809">
                <a:moveTo>
                  <a:pt x="0" y="0"/>
                </a:moveTo>
                <a:lnTo>
                  <a:pt x="4186809" y="0"/>
                </a:lnTo>
                <a:lnTo>
                  <a:pt x="418680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96678" y="2590193"/>
            <a:ext cx="10321694" cy="1464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85"/>
              </a:lnSpc>
            </a:pPr>
            <a:r>
              <a:rPr lang="en-US" sz="12512">
                <a:solidFill>
                  <a:srgbClr val="FFFFFF"/>
                </a:solidFill>
                <a:latin typeface="Luckiest Guy"/>
                <a:ea typeface="Luckiest Guy"/>
                <a:cs typeface="Luckiest Guy"/>
                <a:sym typeface="Luckiest Guy"/>
              </a:rPr>
              <a:t>OBJETIVOS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99773" y="4083026"/>
            <a:ext cx="13243268" cy="5555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9791" indent="-379895" lvl="1">
              <a:lnSpc>
                <a:spcPts val="3976"/>
              </a:lnSpc>
              <a:buFont typeface="Arial"/>
              <a:buChar char="•"/>
            </a:pPr>
            <a:r>
              <a:rPr lang="en-US" sz="351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Diseñar arquitectura móvil y UI/UX con gamificación (mascota y rachas).</a:t>
            </a:r>
          </a:p>
          <a:p>
            <a:pPr algn="l" marL="759791" indent="-379895" lvl="1">
              <a:lnSpc>
                <a:spcPts val="3976"/>
              </a:lnSpc>
              <a:buFont typeface="Arial"/>
              <a:buChar char="•"/>
            </a:pPr>
            <a:r>
              <a:rPr lang="en-US" sz="351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Integrar Visión por Computador para clasificar especies y semillas.</a:t>
            </a:r>
          </a:p>
          <a:p>
            <a:pPr algn="l" marL="759791" indent="-379895" lvl="1">
              <a:lnSpc>
                <a:spcPts val="3976"/>
              </a:lnSpc>
              <a:buFont typeface="Arial"/>
              <a:buChar char="•"/>
            </a:pPr>
            <a:r>
              <a:rPr lang="en-US" sz="351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Implementar diagnóstico ambiental (luz y ubicación) para recomendaciones.</a:t>
            </a:r>
          </a:p>
          <a:p>
            <a:pPr algn="l" marL="759791" indent="-379895" lvl="1">
              <a:lnSpc>
                <a:spcPts val="3976"/>
              </a:lnSpc>
              <a:buFont typeface="Arial"/>
              <a:buChar char="•"/>
            </a:pPr>
            <a:r>
              <a:rPr lang="en-US" sz="351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Construir en Python/Django el servicio de riego y notificaciones.</a:t>
            </a:r>
          </a:p>
          <a:p>
            <a:pPr algn="l" marL="759791" indent="-379895" lvl="1">
              <a:lnSpc>
                <a:spcPts val="3976"/>
              </a:lnSpc>
              <a:buFont typeface="Arial"/>
              <a:buChar char="•"/>
            </a:pPr>
            <a:r>
              <a:rPr lang="en-US" sz="351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Validar el MVP con pruebas de integración, carga y usabilidad (QA).</a:t>
            </a:r>
          </a:p>
          <a:p>
            <a:pPr algn="l">
              <a:lnSpc>
                <a:spcPts val="3976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384016"/>
            <a:ext cx="5406354" cy="9301254"/>
          </a:xfrm>
          <a:custGeom>
            <a:avLst/>
            <a:gdLst/>
            <a:ahLst/>
            <a:cxnLst/>
            <a:rect r="r" b="b" t="t" l="l"/>
            <a:pathLst>
              <a:path h="9301254" w="5406354">
                <a:moveTo>
                  <a:pt x="0" y="0"/>
                </a:moveTo>
                <a:lnTo>
                  <a:pt x="5406354" y="0"/>
                </a:lnTo>
                <a:lnTo>
                  <a:pt x="5406354" y="9301254"/>
                </a:lnTo>
                <a:lnTo>
                  <a:pt x="0" y="9301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33107" y="1219200"/>
            <a:ext cx="14128496" cy="1875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234"/>
              </a:lnSpc>
            </a:pPr>
            <a:r>
              <a:rPr lang="en-US" sz="13556">
                <a:solidFill>
                  <a:srgbClr val="438038"/>
                </a:solidFill>
                <a:latin typeface="Luckiest Guy"/>
                <a:ea typeface="Luckiest Guy"/>
                <a:cs typeface="Luckiest Guy"/>
                <a:sym typeface="Luckiest Guy"/>
              </a:rPr>
              <a:t>ALCANCES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97429" y="3151614"/>
            <a:ext cx="10698470" cy="325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0"/>
              </a:lnSpc>
            </a:pPr>
            <a:r>
              <a:rPr lang="en-US" sz="4219" b="true">
                <a:solidFill>
                  <a:srgbClr val="4380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Incluido en el MVP:</a:t>
            </a:r>
          </a:p>
          <a:p>
            <a:pPr algn="ctr">
              <a:lnSpc>
                <a:spcPts val="4220"/>
              </a:lnSpc>
            </a:pPr>
            <a:r>
              <a:rPr lang="en-US" sz="4019">
                <a:solidFill>
                  <a:srgbClr val="438038"/>
                </a:solidFill>
                <a:latin typeface="Open Sauce"/>
                <a:ea typeface="Open Sauce"/>
                <a:cs typeface="Open Sauce"/>
                <a:sym typeface="Open Sauce"/>
              </a:rPr>
              <a:t> Reconocimiento visual de especies y semillas</a:t>
            </a:r>
          </a:p>
          <a:p>
            <a:pPr algn="ctr">
              <a:lnSpc>
                <a:spcPts val="4220"/>
              </a:lnSpc>
            </a:pPr>
            <a:r>
              <a:rPr lang="en-US" sz="4019">
                <a:solidFill>
                  <a:srgbClr val="438038"/>
                </a:solidFill>
                <a:latin typeface="Open Sauce"/>
                <a:ea typeface="Open Sauce"/>
                <a:cs typeface="Open Sauce"/>
                <a:sym typeface="Open Sauce"/>
              </a:rPr>
              <a:t> Diagnóstico ambiental (luz y ubicación)</a:t>
            </a:r>
          </a:p>
          <a:p>
            <a:pPr algn="ctr">
              <a:lnSpc>
                <a:spcPts val="4220"/>
              </a:lnSpc>
            </a:pPr>
            <a:r>
              <a:rPr lang="en-US" sz="4019">
                <a:solidFill>
                  <a:srgbClr val="438038"/>
                </a:solidFill>
                <a:latin typeface="Open Sauce"/>
                <a:ea typeface="Open Sauce"/>
                <a:cs typeface="Open Sauce"/>
                <a:sym typeface="Open Sauce"/>
              </a:rPr>
              <a:t> Agenda de riego adaptativa</a:t>
            </a:r>
          </a:p>
          <a:p>
            <a:pPr algn="ctr">
              <a:lnSpc>
                <a:spcPts val="4220"/>
              </a:lnSpc>
            </a:pPr>
            <a:r>
              <a:rPr lang="en-US" sz="4019">
                <a:solidFill>
                  <a:srgbClr val="438038"/>
                </a:solidFill>
                <a:latin typeface="Open Sauce"/>
                <a:ea typeface="Open Sauce"/>
                <a:cs typeface="Open Sauce"/>
                <a:sym typeface="Open Sauce"/>
              </a:rPr>
              <a:t> Mascota virtual y sistema de rachas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10800000">
            <a:off x="-177809" y="-326616"/>
            <a:ext cx="5421265" cy="2710632"/>
          </a:xfrm>
          <a:custGeom>
            <a:avLst/>
            <a:gdLst/>
            <a:ahLst/>
            <a:cxnLst/>
            <a:rect r="r" b="b" t="t" l="l"/>
            <a:pathLst>
              <a:path h="2710632" w="5421265">
                <a:moveTo>
                  <a:pt x="0" y="0"/>
                </a:moveTo>
                <a:lnTo>
                  <a:pt x="5421264" y="0"/>
                </a:lnTo>
                <a:lnTo>
                  <a:pt x="5421264" y="2710632"/>
                </a:lnTo>
                <a:lnTo>
                  <a:pt x="0" y="27106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197429" y="7228679"/>
            <a:ext cx="10698470" cy="172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0"/>
              </a:lnSpc>
            </a:pPr>
            <a:r>
              <a:rPr lang="en-US" sz="4419" b="true">
                <a:solidFill>
                  <a:srgbClr val="43803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Fuera de alcance:</a:t>
            </a:r>
          </a:p>
          <a:p>
            <a:pPr algn="ctr">
              <a:lnSpc>
                <a:spcPts val="4430"/>
              </a:lnSpc>
            </a:pPr>
            <a:r>
              <a:rPr lang="en-US" sz="4219">
                <a:solidFill>
                  <a:srgbClr val="438038"/>
                </a:solidFill>
                <a:latin typeface="Open Sauce"/>
                <a:ea typeface="Open Sauce"/>
                <a:cs typeface="Open Sauce"/>
                <a:sym typeface="Open Sauce"/>
              </a:rPr>
              <a:t> E-commerce, redes sociales y entrenamiento de IA propio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380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46048" y="1650609"/>
            <a:ext cx="14395905" cy="2139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84"/>
              </a:lnSpc>
            </a:pPr>
            <a:r>
              <a:rPr lang="en-US" sz="9619">
                <a:solidFill>
                  <a:srgbClr val="FFFFFF"/>
                </a:solidFill>
                <a:latin typeface="Luckiest Guy"/>
                <a:ea typeface="Luckiest Guy"/>
                <a:cs typeface="Luckiest Guy"/>
                <a:sym typeface="Luckiest Guy"/>
              </a:rPr>
              <a:t>HITOS</a:t>
            </a:r>
          </a:p>
          <a:p>
            <a:pPr algn="ctr">
              <a:lnSpc>
                <a:spcPts val="7984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090940" y="2917001"/>
            <a:ext cx="12106121" cy="6928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0332" indent="-350166" lvl="1">
              <a:lnSpc>
                <a:spcPts val="3665"/>
              </a:lnSpc>
              <a:buFont typeface="Arial"/>
              <a:buChar char="•"/>
            </a:pPr>
            <a:r>
              <a:rPr lang="en-US" sz="324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Sprint</a:t>
            </a:r>
            <a:r>
              <a:rPr lang="en-US" sz="324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0 – Requerimientos y Arquitectura: backlog, diagrama ER y wireframes UI/UX.</a:t>
            </a:r>
          </a:p>
          <a:p>
            <a:pPr algn="l">
              <a:lnSpc>
                <a:spcPts val="3665"/>
              </a:lnSpc>
            </a:pPr>
          </a:p>
          <a:p>
            <a:pPr algn="l" marL="700332" indent="-350166" lvl="1">
              <a:lnSpc>
                <a:spcPts val="3665"/>
              </a:lnSpc>
              <a:buFont typeface="Arial"/>
              <a:buChar char="•"/>
            </a:pPr>
            <a:r>
              <a:rPr lang="en-US" sz="324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Sprint 1 – Infraestructura Backend: entorno Python/Django y API RESTful base.</a:t>
            </a:r>
          </a:p>
          <a:p>
            <a:pPr algn="l">
              <a:lnSpc>
                <a:spcPts val="3665"/>
              </a:lnSpc>
            </a:pPr>
          </a:p>
          <a:p>
            <a:pPr algn="l" marL="700332" indent="-350166" lvl="1">
              <a:lnSpc>
                <a:spcPts val="3665"/>
              </a:lnSpc>
              <a:buFont typeface="Arial"/>
              <a:buChar char="•"/>
            </a:pPr>
            <a:r>
              <a:rPr lang="en-US" sz="324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Sprint 2 – IA y Visión Computador: clasificación de especies y cálculo de factibilidad.</a:t>
            </a:r>
          </a:p>
          <a:p>
            <a:pPr algn="l">
              <a:lnSpc>
                <a:spcPts val="3665"/>
              </a:lnSpc>
            </a:pPr>
          </a:p>
          <a:p>
            <a:pPr algn="l" marL="700332" indent="-350166" lvl="1">
              <a:lnSpc>
                <a:spcPts val="3665"/>
              </a:lnSpc>
              <a:buFont typeface="Arial"/>
              <a:buChar char="•"/>
            </a:pPr>
            <a:r>
              <a:rPr lang="en-US" sz="324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Sprint 3 – Frontend, Riego</a:t>
            </a:r>
            <a:r>
              <a:rPr lang="en-US" sz="324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y Ludificación: app híbrida, mascota virtual y rachas.</a:t>
            </a:r>
          </a:p>
          <a:p>
            <a:pPr algn="l">
              <a:lnSpc>
                <a:spcPts val="3665"/>
              </a:lnSpc>
            </a:pPr>
          </a:p>
          <a:p>
            <a:pPr algn="l" marL="700332" indent="-350166" lvl="1">
              <a:lnSpc>
                <a:spcPts val="3665"/>
              </a:lnSpc>
              <a:buFont typeface="Arial"/>
              <a:buChar char="•"/>
            </a:pPr>
            <a:r>
              <a:rPr lang="en-US" sz="3243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Sprint 4 – QA, Pruebas y Despliegue: pruebas de integración y empaquetado del MVP.</a:t>
            </a:r>
          </a:p>
          <a:p>
            <a:pPr algn="l">
              <a:lnSpc>
                <a:spcPts val="3665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-3293196">
            <a:off x="15433357" y="5730660"/>
            <a:ext cx="5709285" cy="8229600"/>
          </a:xfrm>
          <a:custGeom>
            <a:avLst/>
            <a:gdLst/>
            <a:ahLst/>
            <a:cxnLst/>
            <a:rect r="r" b="b" t="t" l="l"/>
            <a:pathLst>
              <a:path h="8229600" w="5709285">
                <a:moveTo>
                  <a:pt x="0" y="0"/>
                </a:moveTo>
                <a:lnTo>
                  <a:pt x="5709285" y="0"/>
                </a:lnTo>
                <a:lnTo>
                  <a:pt x="570928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7194016">
            <a:off x="-2854643" y="-3497168"/>
            <a:ext cx="5709285" cy="8229600"/>
          </a:xfrm>
          <a:custGeom>
            <a:avLst/>
            <a:gdLst/>
            <a:ahLst/>
            <a:cxnLst/>
            <a:rect r="r" b="b" t="t" l="l"/>
            <a:pathLst>
              <a:path h="8229600" w="5709285">
                <a:moveTo>
                  <a:pt x="0" y="0"/>
                </a:moveTo>
                <a:lnTo>
                  <a:pt x="5709285" y="0"/>
                </a:lnTo>
                <a:lnTo>
                  <a:pt x="570928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270689" y="1028700"/>
            <a:ext cx="10503559" cy="14437882"/>
          </a:xfrm>
          <a:custGeom>
            <a:avLst/>
            <a:gdLst/>
            <a:ahLst/>
            <a:cxnLst/>
            <a:rect r="r" b="b" t="t" l="l"/>
            <a:pathLst>
              <a:path h="14437882" w="10503559">
                <a:moveTo>
                  <a:pt x="0" y="0"/>
                </a:moveTo>
                <a:lnTo>
                  <a:pt x="10503560" y="0"/>
                </a:lnTo>
                <a:lnTo>
                  <a:pt x="10503560" y="14437882"/>
                </a:lnTo>
                <a:lnTo>
                  <a:pt x="0" y="14437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39502" y="1160144"/>
            <a:ext cx="10962475" cy="1321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37"/>
              </a:lnSpc>
            </a:pPr>
            <a:r>
              <a:rPr lang="en-US" sz="10974">
                <a:solidFill>
                  <a:srgbClr val="438038"/>
                </a:solidFill>
                <a:latin typeface="Luckiest Guy"/>
                <a:ea typeface="Luckiest Guy"/>
                <a:cs typeface="Luckiest Guy"/>
                <a:sym typeface="Luckiest Guy"/>
              </a:rPr>
              <a:t>CONCLUSIÓN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39502" y="2538890"/>
            <a:ext cx="10962475" cy="321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0"/>
              </a:lnSpc>
            </a:pPr>
            <a:r>
              <a:rPr lang="en-US" sz="4019">
                <a:solidFill>
                  <a:srgbClr val="438038"/>
                </a:solidFill>
                <a:latin typeface="Open Sauce"/>
                <a:ea typeface="Open Sauce"/>
                <a:cs typeface="Open Sauce"/>
                <a:sym typeface="Open Sauce"/>
              </a:rPr>
              <a:t>F.L.O.R.A. combina visión por computador y gamificación conductual para resolver un problema cotidiano real, integrando IA, arquitectura escalable y aseguramiento de calidad en una solución end-to-end que reduce la mortalidad vegetal doméstica.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82098" y="2430665"/>
            <a:ext cx="6709184" cy="7549011"/>
          </a:xfrm>
          <a:custGeom>
            <a:avLst/>
            <a:gdLst/>
            <a:ahLst/>
            <a:cxnLst/>
            <a:rect r="r" b="b" t="t" l="l"/>
            <a:pathLst>
              <a:path h="7549011" w="6709184">
                <a:moveTo>
                  <a:pt x="0" y="0"/>
                </a:moveTo>
                <a:lnTo>
                  <a:pt x="6709184" y="0"/>
                </a:lnTo>
                <a:lnTo>
                  <a:pt x="6709184" y="7549011"/>
                </a:lnTo>
                <a:lnTo>
                  <a:pt x="0" y="75490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83263" y="864121"/>
            <a:ext cx="13697843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 u="sng">
                <a:solidFill>
                  <a:srgbClr val="43803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Gracias por su atencion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593570">
            <a:off x="13648125" y="2932849"/>
            <a:ext cx="10776240" cy="13470300"/>
          </a:xfrm>
          <a:custGeom>
            <a:avLst/>
            <a:gdLst/>
            <a:ahLst/>
            <a:cxnLst/>
            <a:rect r="r" b="b" t="t" l="l"/>
            <a:pathLst>
              <a:path h="13470300" w="10776240">
                <a:moveTo>
                  <a:pt x="0" y="0"/>
                </a:moveTo>
                <a:lnTo>
                  <a:pt x="10776240" y="0"/>
                </a:lnTo>
                <a:lnTo>
                  <a:pt x="10776240" y="13470299"/>
                </a:lnTo>
                <a:lnTo>
                  <a:pt x="0" y="13470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944214">
            <a:off x="-6745630" y="2677802"/>
            <a:ext cx="10776240" cy="13470300"/>
          </a:xfrm>
          <a:custGeom>
            <a:avLst/>
            <a:gdLst/>
            <a:ahLst/>
            <a:cxnLst/>
            <a:rect r="r" b="b" t="t" l="l"/>
            <a:pathLst>
              <a:path h="13470300" w="10776240">
                <a:moveTo>
                  <a:pt x="0" y="0"/>
                </a:moveTo>
                <a:lnTo>
                  <a:pt x="10776240" y="0"/>
                </a:lnTo>
                <a:lnTo>
                  <a:pt x="10776240" y="13470299"/>
                </a:lnTo>
                <a:lnTo>
                  <a:pt x="0" y="134702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DAHT1bffdXE</dc:identifier>
  <dcterms:modified xsi:type="dcterms:W3CDTF">2011-08-01T06:04:30Z</dcterms:modified>
  <cp:revision>1</cp:revision>
  <dc:title>Presentacion Proyecto</dc:title>
</cp:coreProperties>
</file>